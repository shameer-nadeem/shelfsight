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E4-8249-8CF2-C2CF21F24862}"/>
              </c:ext>
            </c:extLst>
          </c:dPt>
          <c:dPt>
            <c:idx val="1"/>
            <c:bubble3D val="0"/>
            <c:spPr>
              <a:solidFill>
                <a:srgbClr val="F0A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E4-8249-8CF2-C2CF21F24862}"/>
              </c:ext>
            </c:extLst>
          </c:dPt>
          <c:dPt>
            <c:idx val="2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E4-8249-8CF2-C2CF21F2486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8E4-8249-8CF2-C2CF21F2486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8E4-8249-8CF2-C2CF21F2486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8E4-8249-8CF2-C2CF21F248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Coca-Cola</c:v>
                </c:pt>
                <c:pt idx="1">
                  <c:v>Fanta</c:v>
                </c:pt>
                <c:pt idx="2">
                  <c:v>Sprite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8E4-8249-8CF2-C2CF21F24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 (%)</c:v>
                </c:pt>
              </c:strCache>
            </c:strRef>
          </c:tx>
          <c:spPr>
            <a:solidFill>
              <a:srgbClr val="5A6A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A6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06-7446-A02B-E0A8522F759A}"/>
              </c:ext>
            </c:extLst>
          </c:dPt>
          <c:dPt>
            <c:idx val="1"/>
            <c:invertIfNegative val="0"/>
            <c:bubble3D val="0"/>
            <c:spPr>
              <a:solidFill>
                <a:srgbClr val="5A6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06-7446-A02B-E0A8522F759A}"/>
              </c:ext>
            </c:extLst>
          </c:dPt>
          <c:dPt>
            <c:idx val="2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06-7446-A02B-E0A8522F759A}"/>
              </c:ext>
            </c:extLst>
          </c:dPt>
          <c:dPt>
            <c:idx val="3"/>
            <c:invertIfNegative val="0"/>
            <c:bubble3D val="0"/>
            <c:spPr>
              <a:solidFill>
                <a:srgbClr val="5A6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06-7446-A02B-E0A8522F75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YOLOv8n
Shameer</c:v>
                </c:pt>
                <c:pt idx="1">
                  <c:v>YOLOv8s
Ibrahim</c:v>
                </c:pt>
                <c:pt idx="2">
                  <c:v>YOLOv8n+Aug
Saad</c:v>
                </c:pt>
                <c:pt idx="3">
                  <c:v>ResNet50
Ayesha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94.61</c:v>
                </c:pt>
                <c:pt idx="1">
                  <c:v>94.61</c:v>
                </c:pt>
                <c:pt idx="2">
                  <c:v>95.06</c:v>
                </c:pt>
                <c:pt idx="3">
                  <c:v>51.2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06-7446-A02B-E0A8522F75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E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138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ShelfSight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Shelf Intelligence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CSC-233 Artificial Intelligence Lab  ·  BNU Spring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Shameer Nadeem  ·  Ibrahim Zahid  ·  Saad Riaz  ·  Samia Rehan  ·  Ayesha Gohar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reps physically visit stores to count products, check shelf positions and note gaps. Slow and error prone.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42316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like Coca Cola spend millions annually on manual shelf auditing across hundreds of retail stores.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0515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8076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data is collected and analysed, shelf conditions have already changed decisions are always reactive.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ShelfSight uses a trained YOLOv8 model to automatically analyse retail shelf photos and calculate key retail metrics instantly.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2651760" cy="25603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0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Shelf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vs competitor facing 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51760" cy="25603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828800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Match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 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shelf vs reference layout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651760" cy="25603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828800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to improve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18488"/>
            <a:ext cx="5303520" cy="475488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 labeled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8541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311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231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coca-cola-500ml · </a:t>
            </a:r>
            <a:r>
              <a:rPr lang="en-US" sz="1100" dirty="0" err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-zero · </a:t>
            </a:r>
            <a:r>
              <a:rPr lang="en-US" sz="1100" dirty="0" err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-can · </a:t>
            </a:r>
            <a:r>
              <a:rPr lang="en-US" sz="1100" dirty="0" err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</a:t>
            </a: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sprite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5303520" cy="475488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3" name="Text 11"/>
          <p:cNvSpPr/>
          <p:nvPr/>
        </p:nvSpPr>
        <p:spPr>
          <a:xfrm>
            <a:off x="548640" y="2798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798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(YOLOv8n + </a:t>
            </a:r>
            <a:r>
              <a:rPr lang="en-US" sz="1100" dirty="0" err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Augumentation</a:t>
            </a: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19272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64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364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 /  20% Validate  /  10%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5303520" cy="475488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· Rotate · Brightness · Mosaic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143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21792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D4E864C-E119-59A3-D3BF-B0B3F948C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086" y="146731"/>
            <a:ext cx="1603652" cy="21284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F2F43B6-E173-9D3B-04DF-B90A4DF7B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7" y="2414015"/>
            <a:ext cx="2705016" cy="2136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YOLOv8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554480" cy="11887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640×640px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618488"/>
            <a:ext cx="20116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1554480" cy="11887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0972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CSPDarknet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618488"/>
            <a:ext cx="20116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1097280"/>
            <a:ext cx="1554480" cy="11887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0972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PANet+FPN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618488"/>
            <a:ext cx="20116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097280"/>
            <a:ext cx="1554480" cy="11887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0972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618488"/>
            <a:ext cx="20116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097280"/>
            <a:ext cx="1554480" cy="1188720"/>
          </a:xfrm>
          <a:prstGeom prst="rect">
            <a:avLst/>
          </a:prstGeom>
          <a:solidFill>
            <a:srgbClr val="1433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0972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BBoxes + Labels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4114800" cy="91440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Trained on COCO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626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object classes. Fine tuned on our shelf dataset in ~40 min on free Colab T4 GPU.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114800" cy="91440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21" name="Text 19"/>
          <p:cNvSpPr/>
          <p:nvPr/>
        </p:nvSpPr>
        <p:spPr>
          <a:xfrm>
            <a:off x="489204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Single stage Detector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9626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classifies products in one forward pass — faster than two-stage detectors like Faster R-CNN.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4114800" cy="91440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Anchor Free Design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142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predicts object centers directly, improving detection of densely packed shelf products.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4114800" cy="91440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Transfer Learning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0142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trained weights give strong visual features. Only the final layers re-trained on our 5 class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Trained &amp; Compared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71800" y="10241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10241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32120" y="10241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27048"/>
            <a:ext cx="8595360" cy="54864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367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16367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6367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94.61%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1636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fastest nano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94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2494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94.61%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2494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— more parameters than nano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52344"/>
            <a:ext cx="8595360" cy="548640"/>
          </a:xfrm>
          <a:prstGeom prst="rect">
            <a:avLst/>
          </a:prstGeom>
          <a:solidFill>
            <a:srgbClr val="E8FBF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620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+ Augmentation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2862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8620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95.06%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862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— best data strategy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752344"/>
            <a:ext cx="64008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WINNER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36499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26" name="Text 24"/>
          <p:cNvSpPr/>
          <p:nvPr/>
        </p:nvSpPr>
        <p:spPr>
          <a:xfrm>
            <a:off x="365760" y="3474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+ SSD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71800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34747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cs typeface="Calibri" pitchFamily="34" charset="-120"/>
              </a:rPr>
              <a:t>47.80%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34747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TensorFlow framework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solidFill>
            <a:srgbClr val="F5F8FA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873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4087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4087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40873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backbone adapted for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05840"/>
            <a:ext cx="7772400" cy="59436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6" name="Text 4"/>
          <p:cNvSpPr/>
          <p:nvPr/>
        </p:nvSpPr>
        <p:spPr>
          <a:xfrm>
            <a:off x="1143000" y="1060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325468"/>
            <a:ext cx="51144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6A5"/>
                </a:solidFill>
                <a:latin typeface="Calibri" pitchFamily="34" charset="0"/>
                <a:cs typeface="Calibri" pitchFamily="34" charset="-120"/>
              </a:rPr>
              <a:t>Images were manually taken for each SKU and was labelled and prepared on </a:t>
            </a:r>
            <a:r>
              <a:rPr lang="en-US" sz="1000" dirty="0" err="1">
                <a:solidFill>
                  <a:srgbClr val="8896A5"/>
                </a:solidFill>
                <a:latin typeface="Calibri" pitchFamily="34" charset="0"/>
                <a:cs typeface="Calibri" pitchFamily="34" charset="-120"/>
              </a:rPr>
              <a:t>Roboflow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02920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7772400" cy="59436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837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Setup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09397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 enabled. YOLOv8 installed via Ultralytics. Dataset downloaded via Roboflow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502920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2560320"/>
            <a:ext cx="7772400" cy="59436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87121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epochs, batch size 16, image size 640×640. Early stopping with patience=10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502920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" y="3337560"/>
            <a:ext cx="7772400" cy="59436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64845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unseen test split. mAP50, precision, recall, and confusion matrix generated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4114800"/>
            <a:ext cx="7772400" cy="594360"/>
          </a:xfrm>
          <a:prstGeom prst="rect">
            <a:avLst/>
          </a:prstGeom>
          <a:solidFill>
            <a:srgbClr val="0A1A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169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442569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saved to Google Drive. Used for comparison notebook and Streamlit UI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Metrics Calculated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Shelf (SOS)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facings ÷ Total facings × 100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96596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05840"/>
            <a:ext cx="4114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 Compliance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0060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divided into a grid. Each cell compared against the reference planogram. Compliance % = matching cells ÷ total cells × 100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2377440"/>
            <a:ext cx="658368" cy="530352"/>
          </a:xfrm>
          <a:prstGeom prst="rect">
            <a:avLst/>
          </a:prstGeom>
          <a:solidFill>
            <a:srgbClr val="E85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32120" y="2377440"/>
            <a:ext cx="658368" cy="530352"/>
          </a:xfrm>
          <a:prstGeom prst="rect">
            <a:avLst/>
          </a:prstGeom>
          <a:solidFill>
            <a:srgbClr val="E85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377440"/>
            <a:ext cx="658368" cy="530352"/>
          </a:xfrm>
          <a:prstGeom prst="rect">
            <a:avLst/>
          </a:prstGeom>
          <a:solidFill>
            <a:srgbClr val="E85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95160" y="2377440"/>
            <a:ext cx="658368" cy="530352"/>
          </a:xfrm>
          <a:prstGeom prst="rect">
            <a:avLst/>
          </a:prstGeom>
          <a:solidFill>
            <a:srgbClr val="F0A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26680" y="2377440"/>
            <a:ext cx="658368" cy="530352"/>
          </a:xfrm>
          <a:prstGeom prst="rect">
            <a:avLst/>
          </a:prstGeom>
          <a:solidFill>
            <a:srgbClr val="F0A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0600" y="2971800"/>
            <a:ext cx="658368" cy="530352"/>
          </a:xfrm>
          <a:prstGeom prst="rect">
            <a:avLst/>
          </a:prstGeom>
          <a:solidFill>
            <a:srgbClr val="E85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32120" y="2971800"/>
            <a:ext cx="658368" cy="530352"/>
          </a:xfrm>
          <a:prstGeom prst="rect">
            <a:avLst/>
          </a:prstGeom>
          <a:solidFill>
            <a:srgbClr val="E85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2971800"/>
            <a:ext cx="658368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95160" y="2971800"/>
            <a:ext cx="658368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26680" y="2971800"/>
            <a:ext cx="658368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Planogram Grid (2 rows × 5 cols)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0060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Coca-Cola   🟧 Fanta   🟩 Sprite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YOLOv8n + Augmentation (Winner)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011680" cy="1280160"/>
          </a:xfrm>
          <a:prstGeom prst="rect">
            <a:avLst/>
          </a:prstGeom>
          <a:solidFill>
            <a:srgbClr val="0A1E3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95.06%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914400"/>
            <a:ext cx="2011680" cy="1280160"/>
          </a:xfrm>
          <a:prstGeom prst="rect">
            <a:avLst/>
          </a:prstGeom>
          <a:solidFill>
            <a:srgbClr val="0A1E3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94.09%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1460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2011680" cy="1280160"/>
          </a:xfrm>
          <a:prstGeom prst="rect">
            <a:avLst/>
          </a:prstGeom>
          <a:solidFill>
            <a:srgbClr val="0A1E3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0916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914400"/>
            <a:ext cx="2011680" cy="1280160"/>
          </a:xfrm>
          <a:prstGeom prst="rect">
            <a:avLst/>
          </a:prstGeom>
          <a:solidFill>
            <a:srgbClr val="0A1E3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365760" y="2331720"/>
          <a:ext cx="84124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33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0972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themed UI — drag &amp; drop shelf photo, animated SOS bars, planogram grid comparison, recommendations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47672"/>
            <a:ext cx="73152" cy="868680"/>
          </a:xfrm>
          <a:prstGeom prst="rect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20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208483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/analyse endpoint. Receives image, runs YOLO inference, returns JSON with all 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35224"/>
            <a:ext cx="73152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08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009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+ Augmentation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307238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Saad's trained best.pt — auto-loaded from model/ folder. Swap model by replacing .pt file — no code changes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22776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22776"/>
            <a:ext cx="73152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288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405993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shameer-nadeem-shelfsight2-0.hf.space — free hosting, 16GB RAM, permanent URL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73152" cy="7132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Shameer Nadeem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115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· Streamlit UI · GitHub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8412480" cy="71323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19072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92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Zahid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Collection · YOLOv8s · UI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71323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73152" cy="713232"/>
          </a:xfrm>
          <a:prstGeom prst="rect">
            <a:avLst/>
          </a:prstGeom>
          <a:solidFill>
            <a:srgbClr val="028060"/>
          </a:solidFill>
          <a:ln w="12700">
            <a:solidFill>
              <a:srgbClr val="028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96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Riaz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724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Search · YOLOv8n+Aug (Winner)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8412480" cy="71323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28416"/>
            <a:ext cx="73152" cy="713232"/>
          </a:xfrm>
          <a:prstGeom prst="rect">
            <a:avLst/>
          </a:prstGeom>
          <a:solidFill>
            <a:srgbClr val="025A50"/>
          </a:solidFill>
          <a:ln w="12700">
            <a:solidFill>
              <a:srgbClr val="025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Samia Rehan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5295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Search · MobileNet+SSD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0A1E30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73152" cy="713232"/>
          </a:xfrm>
          <a:prstGeom prst="rect">
            <a:avLst/>
          </a:prstGeom>
          <a:solidFill>
            <a:srgbClr val="024840"/>
          </a:solidFill>
          <a:ln w="12700">
            <a:solidFill>
              <a:srgbClr val="024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Gohar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517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43342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· Poster &amp; Standee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32004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5 different YOLO and CNN models on a custom shelf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20824"/>
            <a:ext cx="32004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4767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+ Augmentation achieved the highest mAP50 of 95.06%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88336"/>
            <a:ext cx="32004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61518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 Share of Shelf (SOS) and Planogram Compliance automatically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55848"/>
            <a:ext cx="32004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55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app deployed live on Hugging Face Spaces with auto model-swap support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32004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9502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includes frontend, backend, model, and all training notebooks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000" i="1" dirty="0" err="1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0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i="1" dirty="0" err="1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shameer-nadeem</a:t>
            </a:r>
            <a:r>
              <a:rPr lang="en-US" sz="10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i="1" dirty="0" err="1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ShelfSight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763</Words>
  <Application>Microsoft Macintosh PowerPoint</Application>
  <PresentationFormat>On-screen Show (16:9)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ShelfSight — AI Shelf Intelligence</dc:title>
  <dc:subject>PptxGenJS Presentation</dc:subject>
  <dc:creator>PptxGenJS</dc:creator>
  <cp:lastModifiedBy>Shameer Nadeem</cp:lastModifiedBy>
  <cp:revision>3</cp:revision>
  <dcterms:created xsi:type="dcterms:W3CDTF">2026-06-04T06:58:31Z</dcterms:created>
  <dcterms:modified xsi:type="dcterms:W3CDTF">2026-06-04T18:35:52Z</dcterms:modified>
</cp:coreProperties>
</file>